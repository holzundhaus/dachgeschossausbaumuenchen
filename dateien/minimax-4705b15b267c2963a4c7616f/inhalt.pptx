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muenchen/-/blob/689c6b682e01989cf9f1143252703e8d761b9a55/_posts/2026-10-22-architekt-zimmermeister-holzbaubetrieb-dachgeschossausbau-muenchen.md" TargetMode="External"/><Relationship Id="rId3" Type="http://schemas.openxmlformats.org/officeDocument/2006/relationships/hyperlink" Target="https://holzundhaus.github.io/dachgeschossausbaumuenchen/dateien/minimax-4705b15b267c2963a4c7616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Architekt, Zimmermeister oder Holzbaubetrieb: Wer plant meinen DG-Ausbau in München? · Erklärende Präsentation</a:t>
            </a:r>
          </a:p>
        </p:txBody>
      </p:sp>
      <p:sp>
        <p:nvSpPr>
          <p:cNvPr id="3" name="Content Placeholder 2"/>
          <p:cNvSpPr>
            <a:spLocks noGrp="1"/>
          </p:cNvSpPr>
          <p:nvPr>
            <p:ph idx="1"/>
          </p:nvPr>
        </p:nvSpPr>
        <p:spPr/>
        <p:txBody>
          <a:bodyPr/>
          <a:lstStyle/>
          <a:p>
            <a:r>
              <a:t>Überblick: Wer in München ein Dachgeschoss ausbauen möchte, braucht nicht zwingend für jede Aufgabe dieselbe Fachdisziplin. Entscheidend ist, ob Konstruktion, Dachform und Nutzung unverändert bleiben oder ob baurechtliche, statische und gestalterische Anforderungen dazukommen. Dieser Leitfaden beantwortet die praxisnahe Frage: Welche Fachleute sollten wann eingebunden werden, welche Unterlagen vorliegen sollten und wie Eigentümer die Leistungen klar voneinander abgrenzen können. Die Leistungsübersicht zum Dachgeschossausbau für Eigentümer dient als ergänzender Einstieg in die 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Zuerst das genehmigungsrechtliche Szenario bestimmen</a:t>
            </a:r>
          </a:p>
        </p:txBody>
      </p:sp>
      <p:sp>
        <p:nvSpPr>
          <p:cNvPr id="3" name="Content Placeholder 2"/>
          <p:cNvSpPr>
            <a:spLocks noGrp="1"/>
          </p:cNvSpPr>
          <p:nvPr>
            <p:ph idx="1"/>
          </p:nvPr>
        </p:nvSpPr>
        <p:spPr/>
        <p:txBody>
          <a:bodyPr/>
          <a:lstStyle/>
          <a:p>
            <a:pPr>
              <a:defRPr sz="1800"/>
            </a:pPr>
            <a:r>
              <a:t>Ausgangspunkt ist die geplante Veränderung am Gebäude. Bleiben Konstruktion und äußere Gestalt bei einem Ausbau zu Wohnzwecken unverändert, kann das Vorhaben nach der im Ratgeber zitierten BayBO 2025 verfahrensfrei sein; die Quelle nennt dafür eine Anzeige in Textform zwei Wochen vor Baubeginn. Andere Voraussetzungen gelten, wenn beispielsweise Gauben vorgesehen sind, die Dachform verändert wird, die Nutzung wechselt oder die Tragkonstruktion berührt wird. Dann ist in der Regel ein bauvorlageberechtigter Entwurfsverfasser erforderlich. Diese Einordnung sollte nicht allein auf einer Schätzung beruhen: Zuordnung, Bauvorlage und Anzeigeweg gehör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Zuerst das genehmigungsrechtliche Szenario bestimmen</a:t>
            </a:r>
          </a:p>
        </p:txBody>
      </p:sp>
      <p:sp>
        <p:nvSpPr>
          <p:cNvPr id="3" name="Content Placeholder 2"/>
          <p:cNvSpPr>
            <a:spLocks noGrp="1"/>
          </p:cNvSpPr>
          <p:nvPr>
            <p:ph idx="1"/>
          </p:nvPr>
        </p:nvSpPr>
        <p:spPr/>
        <p:txBody>
          <a:bodyPr/>
          <a:lstStyle/>
          <a:p>
            <a:pPr>
              <a:defRPr sz="1800"/>
            </a:pPr>
            <a:r>
              <a:t>en zu den ersten Punkten des Beratungsgesprächs.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Aufgaben von Architekt, Zimmermeister und Tragwerksplaner</a:t>
            </a:r>
          </a:p>
        </p:txBody>
      </p:sp>
      <p:sp>
        <p:nvSpPr>
          <p:cNvPr id="3" name="Content Placeholder 2"/>
          <p:cNvSpPr>
            <a:spLocks noGrp="1"/>
          </p:cNvSpPr>
          <p:nvPr>
            <p:ph idx="1"/>
          </p:nvPr>
        </p:nvSpPr>
        <p:spPr/>
        <p:txBody>
          <a:bodyPr/>
          <a:lstStyle/>
          <a:p>
            <a:pPr>
              <a:defRPr sz="1800"/>
            </a:pPr>
            <a:r>
              <a:t>Die Rollen lassen sich nach ihrer ursprünglichen Aufgabe trennen. Ein Architekt übernimmt insbesondere Vor- und Entwurfsplanung, die erforderlichen Antragsunterlagen, die Abstimmung mit Genehmigungsstellen und die Bauleitung. Ein Zimmermeister ist für Holzkonstruktion, Dachstuhl, Holzbalkendecken, Dämmung und handwerkliche Ausführung zuständig. Die Befugnisse zur Vorlageberechtigung können den Handwerksmeister je nach Qualifikation und Aufgabenbereich einbeziehen. Ein Tragwerksplaner beurteilt die vorhandene Konstruktion und erstellt erforderliche Nachweise für Balken, Sparren, Pfetten und Stützen. Bei Gauben, Aufstockungen oder größeren Nutz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Aufgaben von Architekt, Zimmermeister und Tragwerksplaner</a:t>
            </a:r>
          </a:p>
        </p:txBody>
      </p:sp>
      <p:sp>
        <p:nvSpPr>
          <p:cNvPr id="3" name="Content Placeholder 2"/>
          <p:cNvSpPr>
            <a:spLocks noGrp="1"/>
          </p:cNvSpPr>
          <p:nvPr>
            <p:ph idx="1"/>
          </p:nvPr>
        </p:nvSpPr>
        <p:spPr/>
        <p:txBody>
          <a:bodyPr/>
          <a:lstStyle/>
          <a:p>
            <a:pPr>
              <a:defRPr sz="1800"/>
            </a:pPr>
            <a:r>
              <a:t>ungsänderungen ist eine fachübergreifende Zusammenarbeit deshalb sinnvoller als die Suche nach einem einzigen Allroundbetrieb.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Denkmalschutz und Münchner Besonderheiten früh klären</a:t>
            </a:r>
          </a:p>
        </p:txBody>
      </p:sp>
      <p:sp>
        <p:nvSpPr>
          <p:cNvPr id="3" name="Content Placeholder 2"/>
          <p:cNvSpPr>
            <a:spLocks noGrp="1"/>
          </p:cNvSpPr>
          <p:nvPr>
            <p:ph idx="1"/>
          </p:nvPr>
        </p:nvSpPr>
        <p:spPr/>
        <p:txBody>
          <a:bodyPr/>
          <a:lstStyle/>
          <a:p>
            <a:pPr>
              <a:defRPr sz="1800"/>
            </a:pPr>
            <a:r>
              <a:t>Vor der Planung sollte der Schutzstatus des Objekts feststehen. In München können Erhaltungssatzungen, Ensembleschutz oder Denkmalpflege die Gestaltung, Materialwahl und konstruktiven Lösungen beeinflussen. Die im Ausgangstext genannten Quartiere wie Schwabing-West, Teile der Maxvorstadt und das Lehel sind mögliche Anknüpfungspunkte für eine Prüfung; verbindlich ist stets die Situation des jeweiligen Gebäudes. Ebenfalls früh zu klären ist ein möglicher Fledermausnachweis. Wird dieser erst während der Umsetzung verlangt, kann sich der Bauablauf verzögern. Eine erste Bestandsaufnahme sollte deshalb Dachaufbau, Geschosshöhen, Erschließung, vorha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Denkmalschutz und Münchner Besonderheiten früh klären</a:t>
            </a:r>
          </a:p>
        </p:txBody>
      </p:sp>
      <p:sp>
        <p:nvSpPr>
          <p:cNvPr id="3" name="Content Placeholder 2"/>
          <p:cNvSpPr>
            <a:spLocks noGrp="1"/>
          </p:cNvSpPr>
          <p:nvPr>
            <p:ph idx="1"/>
          </p:nvPr>
        </p:nvSpPr>
        <p:spPr/>
        <p:txBody>
          <a:bodyPr/>
          <a:lstStyle/>
          <a:p>
            <a:pPr>
              <a:defRPr sz="1800"/>
            </a:pPr>
            <a:r>
              <a:t>ndene Dämmung und erkennbare Schäden umfassen.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Qualifikation und Leistungsumfang nachvollziehbar machen</a:t>
            </a:r>
          </a:p>
        </p:txBody>
      </p:sp>
      <p:sp>
        <p:nvSpPr>
          <p:cNvPr id="3" name="Content Placeholder 2"/>
          <p:cNvSpPr>
            <a:spLocks noGrp="1"/>
          </p:cNvSpPr>
          <p:nvPr>
            <p:ph idx="1"/>
          </p:nvPr>
        </p:nvSpPr>
        <p:spPr/>
        <p:txBody>
          <a:bodyPr/>
          <a:lstStyle/>
          <a:p>
            <a:pPr>
              <a:defRPr sz="1800"/>
            </a:pPr>
            <a:r>
              <a:t>Für die Auswahl zählen nachvollziehbare Qualifikationen und passende Projekterfahrung. Bei Architekten gehören die Eintragung in die Bayerische Architektenkammer und die Bauvorlageberechtigung zu den wichtigen Nachweisen. Beim Zimmermeister sind die Eintragung in die Handwerkskammer und einschlägige Holzbauqualifikationen relevant. Beim Tragwerksplaner sollte die Eignung für die konkrete Aufgabe belegt sein. Hilfreich ist eine schriftliche Leistungsbeschreibung, die Planung, Statik, Bauleitung, Energieeffizienznachweise und Ausführung klar trennt. Für die Kostenentscheidung sollten Angebote den jeweiligen Umfang ausweisen; konkrete Honorare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Qualifikation und Leistungsumfang nachvollziehbar machen</a:t>
            </a:r>
          </a:p>
        </p:txBody>
      </p:sp>
      <p:sp>
        <p:nvSpPr>
          <p:cNvPr id="3" name="Content Placeholder 2"/>
          <p:cNvSpPr>
            <a:spLocks noGrp="1"/>
          </p:cNvSpPr>
          <p:nvPr>
            <p:ph idx="1"/>
          </p:nvPr>
        </p:nvSpPr>
        <p:spPr/>
        <p:txBody>
          <a:bodyPr/>
          <a:lstStyle/>
          <a:p>
            <a:pPr>
              <a:defRPr sz="1800"/>
            </a:pPr>
            <a:r>
              <a:t>ängen laut Quelle von Projektumfang, Honorarzone und Vereinbarung 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Mit einer strukturierten Unterlagenliste starten</a:t>
            </a:r>
          </a:p>
        </p:txBody>
      </p:sp>
      <p:sp>
        <p:nvSpPr>
          <p:cNvPr id="3" name="Content Placeholder 2"/>
          <p:cNvSpPr>
            <a:spLocks noGrp="1"/>
          </p:cNvSpPr>
          <p:nvPr>
            <p:ph idx="1"/>
          </p:nvPr>
        </p:nvSpPr>
        <p:spPr/>
        <p:txBody>
          <a:bodyPr/>
          <a:lstStyle/>
          <a:p>
            <a:pPr>
              <a:defRPr sz="1800"/>
            </a:pPr>
            <a:r>
              <a:t>Für das Erstgespräch lassen sich Angaben und vorhandene Dokumente strukturiert zusammenstellen: Gebäudeadresse, Baujahr, Dachform und Konstruktion sowie Fotos von Dachraum und Treppe. Hilfreich sind außerdem Grundrisse, vorhandene Baupläne, Angaben zur gewünschten Nutzung, Informationen zur Heizung und bisherige Energie- oder Förderunterlagen. Dazu kommen Fragen zu Erhaltungssatzung, Ensemble, Denkmal, Fledermausprüfung und geänderter Tragkonstruktion. So können die Beteiligten ihren Leistungsbedarf prüfen, Schnittstellen erkennen und einen belastbaren Ablauf planen. Ergänzende Hinweise zur Auswahl und Zusammenarbeit von Fachbetrieben finden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Mit einer strukturierten Unterlagenliste starten</a:t>
            </a:r>
          </a:p>
        </p:txBody>
      </p:sp>
      <p:sp>
        <p:nvSpPr>
          <p:cNvPr id="3" name="Content Placeholder 2"/>
          <p:cNvSpPr>
            <a:spLocks noGrp="1"/>
          </p:cNvSpPr>
          <p:nvPr>
            <p:ph idx="1"/>
          </p:nvPr>
        </p:nvSpPr>
        <p:spPr/>
        <p:txBody>
          <a:bodyPr/>
          <a:lstStyle/>
          <a:p>
            <a:pPr>
              <a:defRPr sz="1800"/>
            </a:pPr>
            <a:r>
              <a:t>sich in der Leistungsübersicht zum Dachgeschossausbau für Eigentümer.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Architekt, Zimmermeister oder Holzbaubetrieb: Wer plant meinen DG-Ausbau in München?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