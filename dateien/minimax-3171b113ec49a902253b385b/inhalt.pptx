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dachgeschossausbaumuenchen.tumblr.com" TargetMode="External"/><Relationship Id="rId3" Type="http://schemas.openxmlformats.org/officeDocument/2006/relationships/hyperlink" Target="https://holzundhaus.github.io/dachgeschossausbaumuenchen/dateien/minimax-3171b113ec49a902253b385b/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dachgeschossausbaumuenchen.de · Erklärende Präsentation</a:t>
            </a:r>
          </a:p>
        </p:txBody>
      </p:sp>
      <p:sp>
        <p:nvSpPr>
          <p:cNvPr id="3" name="Content Placeholder 2"/>
          <p:cNvSpPr>
            <a:spLocks noGrp="1"/>
          </p:cNvSpPr>
          <p:nvPr>
            <p:ph idx="1"/>
          </p:nvPr>
        </p:nvSpPr>
        <p:spPr/>
        <p:txBody>
          <a:bodyPr/>
          <a:lstStyle/>
          <a:p>
            <a:r>
              <a:t>Überblick: Der Dachgeschossausbau in München erfreut sich wachsender Beliebtheit, da er eine attraktive Möglichkeit bietet, bestehenden Wohnraum zu erweitern, ohne zusätzliches Bauland versiegeln zu müssen. Doch vor der Umsetzung eines solchen Projekts gilt es, zahlreiche Aspekte zu berücksichtigen, die über die reine Raumgestaltung hinausgehen. Dieser Ratgeber beleuchtet wichtige Fragestellungen rund um Genehmigungen, Energieeffizienz und wirtschaftliche Planung, um Bauherren in München eine fundierte Orientierung zu geben.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Genehmigungspflicht und rechtliche Grundlagen</a:t>
            </a:r>
          </a:p>
        </p:txBody>
      </p:sp>
      <p:sp>
        <p:nvSpPr>
          <p:cNvPr id="3" name="Content Placeholder 2"/>
          <p:cNvSpPr>
            <a:spLocks noGrp="1"/>
          </p:cNvSpPr>
          <p:nvPr>
            <p:ph idx="1"/>
          </p:nvPr>
        </p:nvSpPr>
        <p:spPr/>
        <p:txBody>
          <a:bodyPr/>
          <a:lstStyle/>
          <a:p>
            <a:pPr>
              <a:defRPr sz="1800"/>
            </a:pPr>
            <a:r>
              <a:t>Bevor ein Dachgeschossausbau in München realisiert werden kann, ist die Klärung der baurechtlichen Rahmenbedingungen unerlässlich. In vielen Fällen gelten Bestandsschutz und bestehende Bebauungspläne, dieubaurechtliche Vorgaben für die maximale Ausbauhöhe, Dachneigung und Kubatur festlegen. Zuständig ist das lokale Bauordnungsamt, bei dem vor Beginn der Planungen eine Bauvoranfrage gestellt werden kann. Dabei wird geprüft, ob das geplante Vorhaben mit den Festsetzungen des Bebauungsplans, der Landesbauordnung Bayern und eventuellen Erhaltungssatzungen vereinbar ist. Insbesondere in bestehenden Wohngebieten mit hoher Baudichte können Auflagen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Genehmigungspflicht und rechtliche Grundlagen</a:t>
            </a:r>
          </a:p>
        </p:txBody>
      </p:sp>
      <p:sp>
        <p:nvSpPr>
          <p:cNvPr id="3" name="Content Placeholder 2"/>
          <p:cNvSpPr>
            <a:spLocks noGrp="1"/>
          </p:cNvSpPr>
          <p:nvPr>
            <p:ph idx="1"/>
          </p:nvPr>
        </p:nvSpPr>
        <p:spPr/>
        <p:txBody>
          <a:bodyPr/>
          <a:lstStyle/>
          <a:p>
            <a:pPr>
              <a:defRPr sz="1800"/>
            </a:pPr>
            <a:r>
              <a:t>zum Beispiel hinsichtlich der zulässigen Geschosshöhe oder der Fassadengestaltung bestehen.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Energieeffizienz und Wärmeschutz</a:t>
            </a:r>
          </a:p>
        </p:txBody>
      </p:sp>
      <p:sp>
        <p:nvSpPr>
          <p:cNvPr id="3" name="Content Placeholder 2"/>
          <p:cNvSpPr>
            <a:spLocks noGrp="1"/>
          </p:cNvSpPr>
          <p:nvPr>
            <p:ph idx="1"/>
          </p:nvPr>
        </p:nvSpPr>
        <p:spPr/>
        <p:txBody>
          <a:bodyPr/>
          <a:lstStyle/>
          <a:p>
            <a:pPr>
              <a:defRPr sz="1800"/>
            </a:pPr>
            <a:r>
              <a:t>Ein gut geplanter Dachgeschossausbau verbessert die Gesamtenergiebilanz eines Gebäudes erheblich. Da das Dach zu den größten Flächen gehört, über die Wärme entweichen kann, spielt die Dämmung eine zentrale Rolle. Moderne Dämmstoffe wie Mineralwolle, Schaumglas oder hochwertige Holzfaserdämmungen erreichen heute sehr gute Wärmeschutzwerte. Die Energieeinsparverordnung schreibt für ausgebaute Dachgeschosse bestimmte U-Werte vor, die einzuhalten sind. Zusätzlich sollte die Luftdichtheit der Konstruktion sorgfältig geplant werden, um Tauwasserbildung und Schimmelpilzbildung zu vermeiden. Eine fachgerechte Dampfsperre und die Vermeidung von Wärmeb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Energieeffizienz und Wärmeschutz</a:t>
            </a:r>
          </a:p>
        </p:txBody>
      </p:sp>
      <p:sp>
        <p:nvSpPr>
          <p:cNvPr id="3" name="Content Placeholder 2"/>
          <p:cNvSpPr>
            <a:spLocks noGrp="1"/>
          </p:cNvSpPr>
          <p:nvPr>
            <p:ph idx="1"/>
          </p:nvPr>
        </p:nvSpPr>
        <p:spPr/>
        <p:txBody>
          <a:bodyPr/>
          <a:lstStyle/>
          <a:p>
            <a:pPr>
              <a:defRPr sz="1800"/>
            </a:pPr>
            <a:r>
              <a:t>rücken sind dabei ebenso wichtig wie die Wahl des richtigen Dämmsystems für die jeweilige Dachkonstruktion.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Kostenfaktoren und wirtschaftliche Planung</a:t>
            </a:r>
          </a:p>
        </p:txBody>
      </p:sp>
      <p:sp>
        <p:nvSpPr>
          <p:cNvPr id="3" name="Content Placeholder 2"/>
          <p:cNvSpPr>
            <a:spLocks noGrp="1"/>
          </p:cNvSpPr>
          <p:nvPr>
            <p:ph idx="1"/>
          </p:nvPr>
        </p:nvSpPr>
        <p:spPr/>
        <p:txBody>
          <a:bodyPr/>
          <a:lstStyle/>
          <a:p>
            <a:pPr>
              <a:defRPr sz="1800"/>
            </a:pPr>
            <a:r>
              <a:t>Die Kosten für einen Dachgeschossausbau variieren je nach Umfang, Zustand der bestehenden Bausubstanz und gewählter Ausstattung erheblich. Wesentliche Kostenpositionen umfassen die Statik und eventuelle Verstärkungsmaßnahmen der Decken und Dachkonstruktion, den Einbau von Dachfenstern oder Gauben, die gesamte Haustechnik einschließlich Heizungsanpassung, Elektro- und Sanitärinstallationen sowie die Innenausstattung mit Böden, Wänden und Malerarbeiten. Eine detaillierte Kostenschätzung sollte bereits in der Vorplanungsphase erfolgen und Puffer für unvorhergesehene Maßnahmen einplanen. Die Berücksichtigung von Fördermöglichkeiten, etwa durch di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Kostenfaktoren und wirtschaftliche Planung</a:t>
            </a:r>
          </a:p>
        </p:txBody>
      </p:sp>
      <p:sp>
        <p:nvSpPr>
          <p:cNvPr id="3" name="Content Placeholder 2"/>
          <p:cNvSpPr>
            <a:spLocks noGrp="1"/>
          </p:cNvSpPr>
          <p:nvPr>
            <p:ph idx="1"/>
          </p:nvPr>
        </p:nvSpPr>
        <p:spPr/>
        <p:txBody>
          <a:bodyPr/>
          <a:lstStyle/>
          <a:p>
            <a:pPr>
              <a:defRPr sz="1800"/>
            </a:pPr>
            <a:r>
              <a:t>e KfW-Programme für energieeffizientes Bauen und Sanieren, kann die finanzielle Belastung spürbar reduzieren.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Integration in die bestehende Gebäudestruktur</a:t>
            </a:r>
          </a:p>
        </p:txBody>
      </p:sp>
      <p:sp>
        <p:nvSpPr>
          <p:cNvPr id="3" name="Content Placeholder 2"/>
          <p:cNvSpPr>
            <a:spLocks noGrp="1"/>
          </p:cNvSpPr>
          <p:nvPr>
            <p:ph idx="1"/>
          </p:nvPr>
        </p:nvSpPr>
        <p:spPr/>
        <p:txBody>
          <a:bodyPr/>
          <a:lstStyle/>
          <a:p>
            <a:pPr>
              <a:defRPr sz="1800"/>
            </a:pPr>
            <a:r>
              <a:t>Jedes Gebäude bringt individuelle Voraussetzungen mit, die den Ausbau beeinflussen. Die Tragfähigkeit der bestehenden Decken muss durch einen Statiker geprüft werden, da der Einbau neuer Nutzlasten wie Böden, Möbel und eventueller Trennwände sorgfältig kalkuliert werden muss. Die Anbindung der neuen Wohnräume an bestehende Versorgungsleitungen stellt eine weitere planerische Herausforderung dar. Dabei sind die Wege für Heizungsrohre, Elektroleitungen und Abwasseranschlüsse so zu führen, dass sie mit der Raumgestaltung vereinbar sind. Auch die Frage der Erschließung, etwa durch Treppen oder den Einbau eines Aufzugschachts, sollte frühzeitig in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Integration in die bestehende Gebäudestruktur</a:t>
            </a:r>
          </a:p>
        </p:txBody>
      </p:sp>
      <p:sp>
        <p:nvSpPr>
          <p:cNvPr id="3" name="Content Placeholder 2"/>
          <p:cNvSpPr>
            <a:spLocks noGrp="1"/>
          </p:cNvSpPr>
          <p:nvPr>
            <p:ph idx="1"/>
          </p:nvPr>
        </p:nvSpPr>
        <p:spPr/>
        <p:txBody>
          <a:bodyPr/>
          <a:lstStyle/>
          <a:p>
            <a:pPr>
              <a:defRPr sz="1800"/>
            </a:pPr>
            <a:r>
              <a:t> die Planung einbezogen werden, um nachträgliche bauliche Eingriffe zu vermeiden.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Schallschutz im Dachgeschoss</a:t>
            </a:r>
          </a:p>
        </p:txBody>
      </p:sp>
      <p:sp>
        <p:nvSpPr>
          <p:cNvPr id="3" name="Content Placeholder 2"/>
          <p:cNvSpPr>
            <a:spLocks noGrp="1"/>
          </p:cNvSpPr>
          <p:nvPr>
            <p:ph idx="1"/>
          </p:nvPr>
        </p:nvSpPr>
        <p:spPr/>
        <p:txBody>
          <a:bodyPr/>
          <a:lstStyle/>
          <a:p>
            <a:pPr>
              <a:defRPr sz="1800"/>
            </a:pPr>
            <a:r>
              <a:t>Dachgeschosse sind aufgrund ihrer Lage besonders anfällig für Lärmbelastungen, sei es durch Regen, Hagel oder Wind auf der Dachfläche oder durch Geräusche aus den darunterliegenden Geschossen. Ein durchdachter Schallschutz erhöht den Wohnkomfort erheblich und sollte bereits in der Planungsphase berücksichtigt werden. Die Kombination aus biegeweicher Vorsatzschale und trittschalldämmenden Maßnahmen im Fußbodenaufbau kann die Luft- und Trittschalldämmung deutlich verbessern. Auch die Wahl der Dachfenster spielt eine Rolle: Sonnenschutzglas mit erhöhtem Schallschutz kann den Lärm von außen merklich reduzieren.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dachgeschossausbaumuenchen.de</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